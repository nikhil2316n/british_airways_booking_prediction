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EA5CC-7892-C816-7273-C7168A652A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08D77-36FD-12D0-B761-A20E7DD163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D90BED-9E89-6896-F7C5-92E260556022}"/>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5" name="Footer Placeholder 4">
            <a:extLst>
              <a:ext uri="{FF2B5EF4-FFF2-40B4-BE49-F238E27FC236}">
                <a16:creationId xmlns:a16="http://schemas.microsoft.com/office/drawing/2014/main" id="{E32C7625-BB76-BCFE-FB5D-ED64BB078E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39A66-43BE-EE2F-ED78-6A8211DF9434}"/>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2597894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A828-348B-9333-6390-36EAE4B35E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76C2BD-797A-D3A0-CDCC-DB9393FB9F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C6CD4C-890A-8200-E17F-2DA403021910}"/>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5" name="Footer Placeholder 4">
            <a:extLst>
              <a:ext uri="{FF2B5EF4-FFF2-40B4-BE49-F238E27FC236}">
                <a16:creationId xmlns:a16="http://schemas.microsoft.com/office/drawing/2014/main" id="{A83E6C56-840D-F820-E975-9D1F136593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0F3854-EC08-8CCC-E7D7-3F3EB218473A}"/>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124177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99D4-EAFB-57DB-0400-7BEC93CEF8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F6E9F0-A8F4-F804-DC9C-2299B97C0A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7C97A8-C009-E4AD-FA1A-867398DE6D31}"/>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5" name="Footer Placeholder 4">
            <a:extLst>
              <a:ext uri="{FF2B5EF4-FFF2-40B4-BE49-F238E27FC236}">
                <a16:creationId xmlns:a16="http://schemas.microsoft.com/office/drawing/2014/main" id="{9F606F87-CC5B-418D-AD4F-EAC28FA7B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3DD9CC-68BD-F1CC-3491-F45F078DF8C0}"/>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2900007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D897D-87B4-2932-3F6D-513CBB1993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8941AD-3E9B-1D4E-D137-1BC62A2627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5D7405-22D5-0588-EB4D-7270F0B683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6AD592-DA07-7FD9-30F9-616C8A1FFB3B}"/>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6" name="Footer Placeholder 5">
            <a:extLst>
              <a:ext uri="{FF2B5EF4-FFF2-40B4-BE49-F238E27FC236}">
                <a16:creationId xmlns:a16="http://schemas.microsoft.com/office/drawing/2014/main" id="{B8C43711-6850-47BB-B332-1450DB1706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C7F72A-EB18-F4EF-131F-40EADC7CAE64}"/>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1328509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16466-B333-9EE2-75A0-B2737B7D17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25FF98-AC63-79C0-654D-82F7730D21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8A8E05-5772-6F26-76D1-183E4EFC70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816542-A603-579E-CCE0-740A903AB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7C4A14-FEF7-71D3-213D-0608D4CC1D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F48055-D614-611C-2B3F-FCE2144FEDB3}"/>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8" name="Footer Placeholder 7">
            <a:extLst>
              <a:ext uri="{FF2B5EF4-FFF2-40B4-BE49-F238E27FC236}">
                <a16:creationId xmlns:a16="http://schemas.microsoft.com/office/drawing/2014/main" id="{A684C0B8-843A-9740-FC83-828EAA37D2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407D11-D230-FC20-F7EB-201788221EC3}"/>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1291261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8C705-C7B8-60AC-A9A3-FB9520BBF0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2293A7-F701-D148-D32F-1951DBDD5899}"/>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4" name="Footer Placeholder 3">
            <a:extLst>
              <a:ext uri="{FF2B5EF4-FFF2-40B4-BE49-F238E27FC236}">
                <a16:creationId xmlns:a16="http://schemas.microsoft.com/office/drawing/2014/main" id="{9AD613E1-C81B-92D6-5298-C8F9712046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B50E6C-CFF8-C0D8-8052-6BFF8BDDEB99}"/>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425463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658B5A-AB15-EC45-9049-4604CBF0801C}"/>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3" name="Footer Placeholder 2">
            <a:extLst>
              <a:ext uri="{FF2B5EF4-FFF2-40B4-BE49-F238E27FC236}">
                <a16:creationId xmlns:a16="http://schemas.microsoft.com/office/drawing/2014/main" id="{5C9AB97B-E2B2-D5C4-5F45-BE723A411F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0C330B-1DE9-5923-432D-5D2156939808}"/>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1450118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F7E2A-F6E5-83FB-497C-87AA7AFA7A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56F91C-A792-FA67-5C50-7EE2582AAA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DF129B-7E9A-D85B-1FD4-37EB9CA5CF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D683A-0B8E-7586-BE43-6B03A2EFBAB8}"/>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6" name="Footer Placeholder 5">
            <a:extLst>
              <a:ext uri="{FF2B5EF4-FFF2-40B4-BE49-F238E27FC236}">
                <a16:creationId xmlns:a16="http://schemas.microsoft.com/office/drawing/2014/main" id="{7D901498-F21F-3452-1171-345EEECCF3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795CA2-C230-47B7-D8C3-CD97154D08E5}"/>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4104642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392D-A267-1436-9A2C-26AAA63E98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BFA514-D63C-42BE-0F5B-6C2EB15271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4F3D26-9348-BAE7-DB73-5EA36A4E4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E8C5FB-D7D0-2702-A3F9-60A0266BF624}"/>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6" name="Footer Placeholder 5">
            <a:extLst>
              <a:ext uri="{FF2B5EF4-FFF2-40B4-BE49-F238E27FC236}">
                <a16:creationId xmlns:a16="http://schemas.microsoft.com/office/drawing/2014/main" id="{D2F071DC-21F8-9F87-3D93-921735802A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9E1BC6-2F1D-CE2F-93DD-ECB7B1E8B788}"/>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938859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77BD-90E5-C551-CF47-3E68E6C039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A30CEF-7FB9-677F-C784-7EBD0C43C9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CF31C7-3E85-2CF9-BC36-37D7C7E454BF}"/>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5" name="Footer Placeholder 4">
            <a:extLst>
              <a:ext uri="{FF2B5EF4-FFF2-40B4-BE49-F238E27FC236}">
                <a16:creationId xmlns:a16="http://schemas.microsoft.com/office/drawing/2014/main" id="{7DA8C7FF-F67E-B20F-AB42-14F3718B34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16EFB1-DC5A-B40B-A235-632E1281D382}"/>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2784594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9611B9-0372-312F-2F17-C18117D6DF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CB3E5D-5AC5-D484-B121-B0D8693941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403AE6-4F0F-8727-4253-771CE48D5127}"/>
              </a:ext>
            </a:extLst>
          </p:cNvPr>
          <p:cNvSpPr>
            <a:spLocks noGrp="1"/>
          </p:cNvSpPr>
          <p:nvPr>
            <p:ph type="dt" sz="half" idx="10"/>
          </p:nvPr>
        </p:nvSpPr>
        <p:spPr/>
        <p:txBody>
          <a:bodyPr/>
          <a:lstStyle/>
          <a:p>
            <a:fld id="{2A4687F9-EAD8-48D0-8AB4-18CED7EDB1F2}" type="datetimeFigureOut">
              <a:rPr lang="en-IN" smtClean="0"/>
              <a:t>14-02-2026</a:t>
            </a:fld>
            <a:endParaRPr lang="en-IN"/>
          </a:p>
        </p:txBody>
      </p:sp>
      <p:sp>
        <p:nvSpPr>
          <p:cNvPr id="5" name="Footer Placeholder 4">
            <a:extLst>
              <a:ext uri="{FF2B5EF4-FFF2-40B4-BE49-F238E27FC236}">
                <a16:creationId xmlns:a16="http://schemas.microsoft.com/office/drawing/2014/main" id="{09A17EA7-A035-751E-FCF8-D2C9107B61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0FF9F-4673-C860-37AF-AF861FF7BC9D}"/>
              </a:ext>
            </a:extLst>
          </p:cNvPr>
          <p:cNvSpPr>
            <a:spLocks noGrp="1"/>
          </p:cNvSpPr>
          <p:nvPr>
            <p:ph type="sldNum" sz="quarter" idx="12"/>
          </p:nvPr>
        </p:nvSpPr>
        <p:spPr/>
        <p:txBody>
          <a:bodyPr/>
          <a:lstStyle/>
          <a:p>
            <a:fld id="{09BA94EA-397B-4F76-9185-0F8D8037C778}" type="slidenum">
              <a:rPr lang="en-IN" smtClean="0"/>
              <a:t>‹#›</a:t>
            </a:fld>
            <a:endParaRPr lang="en-IN"/>
          </a:p>
        </p:txBody>
      </p:sp>
    </p:spTree>
    <p:extLst>
      <p:ext uri="{BB962C8B-B14F-4D97-AF65-F5344CB8AC3E}">
        <p14:creationId xmlns:p14="http://schemas.microsoft.com/office/powerpoint/2010/main" val="374040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FC5F27-DD97-4F03-FC2B-5C35C6472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72A440-6CC2-6C21-E0FC-088045B08D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CC7109-0B7A-1EA2-8538-11B610D1E8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4687F9-EAD8-48D0-8AB4-18CED7EDB1F2}" type="datetimeFigureOut">
              <a:rPr lang="en-IN" smtClean="0"/>
              <a:t>14-02-2026</a:t>
            </a:fld>
            <a:endParaRPr lang="en-IN"/>
          </a:p>
        </p:txBody>
      </p:sp>
      <p:sp>
        <p:nvSpPr>
          <p:cNvPr id="5" name="Footer Placeholder 4">
            <a:extLst>
              <a:ext uri="{FF2B5EF4-FFF2-40B4-BE49-F238E27FC236}">
                <a16:creationId xmlns:a16="http://schemas.microsoft.com/office/drawing/2014/main" id="{DB2097E0-2CB0-24F1-71DE-9A346C39C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8A96CC-A09C-85B0-8A0A-BFB2BED734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A94EA-397B-4F76-9185-0F8D8037C778}" type="slidenum">
              <a:rPr lang="en-IN" smtClean="0"/>
              <a:t>‹#›</a:t>
            </a:fld>
            <a:endParaRPr lang="en-IN"/>
          </a:p>
        </p:txBody>
      </p:sp>
    </p:spTree>
    <p:extLst>
      <p:ext uri="{BB962C8B-B14F-4D97-AF65-F5344CB8AC3E}">
        <p14:creationId xmlns:p14="http://schemas.microsoft.com/office/powerpoint/2010/main" val="337945165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EF5203-A274-DE61-16AA-C23C8EDBC0C1}"/>
              </a:ext>
            </a:extLst>
          </p:cNvPr>
          <p:cNvSpPr txBox="1"/>
          <p:nvPr/>
        </p:nvSpPr>
        <p:spPr>
          <a:xfrm>
            <a:off x="4159044" y="290134"/>
            <a:ext cx="4247536" cy="769441"/>
          </a:xfrm>
          <a:prstGeom prst="rect">
            <a:avLst/>
          </a:prstGeom>
          <a:noFill/>
        </p:spPr>
        <p:txBody>
          <a:bodyPr wrap="square" rtlCol="0">
            <a:spAutoFit/>
          </a:bodyPr>
          <a:lstStyle/>
          <a:p>
            <a:r>
              <a:rPr lang="en-IN" sz="4400" dirty="0"/>
              <a:t>BRITISH AIRWAYS</a:t>
            </a:r>
          </a:p>
        </p:txBody>
      </p:sp>
      <p:sp>
        <p:nvSpPr>
          <p:cNvPr id="4" name="TextBox 3">
            <a:extLst>
              <a:ext uri="{FF2B5EF4-FFF2-40B4-BE49-F238E27FC236}">
                <a16:creationId xmlns:a16="http://schemas.microsoft.com/office/drawing/2014/main" id="{E8C67504-E03E-3085-3490-7237DDEBF7B5}"/>
              </a:ext>
            </a:extLst>
          </p:cNvPr>
          <p:cNvSpPr txBox="1"/>
          <p:nvPr/>
        </p:nvSpPr>
        <p:spPr>
          <a:xfrm>
            <a:off x="403121" y="1250987"/>
            <a:ext cx="10446775" cy="461665"/>
          </a:xfrm>
          <a:prstGeom prst="rect">
            <a:avLst/>
          </a:prstGeom>
          <a:noFill/>
        </p:spPr>
        <p:txBody>
          <a:bodyPr wrap="square" rtlCol="0">
            <a:spAutoFit/>
          </a:bodyPr>
          <a:lstStyle/>
          <a:p>
            <a:r>
              <a:rPr lang="en-IN" sz="2400" b="1" dirty="0"/>
              <a:t>Title</a:t>
            </a:r>
            <a:r>
              <a:rPr lang="en-IN" sz="2400" dirty="0"/>
              <a:t> : Customer Booking Prediction Model</a:t>
            </a:r>
          </a:p>
        </p:txBody>
      </p:sp>
      <p:sp>
        <p:nvSpPr>
          <p:cNvPr id="5" name="TextBox 4">
            <a:extLst>
              <a:ext uri="{FF2B5EF4-FFF2-40B4-BE49-F238E27FC236}">
                <a16:creationId xmlns:a16="http://schemas.microsoft.com/office/drawing/2014/main" id="{9121E730-966F-D79F-3B30-E320FEC566D4}"/>
              </a:ext>
            </a:extLst>
          </p:cNvPr>
          <p:cNvSpPr txBox="1"/>
          <p:nvPr/>
        </p:nvSpPr>
        <p:spPr>
          <a:xfrm>
            <a:off x="403121" y="1917607"/>
            <a:ext cx="10446775" cy="461665"/>
          </a:xfrm>
          <a:prstGeom prst="rect">
            <a:avLst/>
          </a:prstGeom>
          <a:noFill/>
        </p:spPr>
        <p:txBody>
          <a:bodyPr wrap="square" rtlCol="0">
            <a:spAutoFit/>
          </a:bodyPr>
          <a:lstStyle/>
          <a:p>
            <a:r>
              <a:rPr lang="en-US" sz="2400" b="1" dirty="0"/>
              <a:t>Objective : </a:t>
            </a:r>
            <a:r>
              <a:rPr lang="en-US" sz="2400" dirty="0"/>
              <a:t>Predict whether a customer will complete a booking.</a:t>
            </a:r>
          </a:p>
        </p:txBody>
      </p:sp>
      <p:sp>
        <p:nvSpPr>
          <p:cNvPr id="7" name="TextBox 6">
            <a:extLst>
              <a:ext uri="{FF2B5EF4-FFF2-40B4-BE49-F238E27FC236}">
                <a16:creationId xmlns:a16="http://schemas.microsoft.com/office/drawing/2014/main" id="{7FAE1828-4ECF-E0F6-C371-03B2677267BF}"/>
              </a:ext>
            </a:extLst>
          </p:cNvPr>
          <p:cNvSpPr txBox="1"/>
          <p:nvPr/>
        </p:nvSpPr>
        <p:spPr>
          <a:xfrm>
            <a:off x="403121" y="2584227"/>
            <a:ext cx="9134167" cy="461665"/>
          </a:xfrm>
          <a:prstGeom prst="rect">
            <a:avLst/>
          </a:prstGeom>
          <a:noFill/>
        </p:spPr>
        <p:txBody>
          <a:bodyPr wrap="square">
            <a:spAutoFit/>
          </a:bodyPr>
          <a:lstStyle/>
          <a:p>
            <a:pPr>
              <a:buNone/>
            </a:pPr>
            <a:r>
              <a:rPr lang="en-US" sz="2400" b="1" dirty="0"/>
              <a:t>Model Used : </a:t>
            </a:r>
            <a:r>
              <a:rPr lang="en-US" sz="2400" dirty="0"/>
              <a:t>Random Forest Classifier</a:t>
            </a:r>
          </a:p>
        </p:txBody>
      </p:sp>
      <p:sp>
        <p:nvSpPr>
          <p:cNvPr id="9" name="TextBox 8">
            <a:extLst>
              <a:ext uri="{FF2B5EF4-FFF2-40B4-BE49-F238E27FC236}">
                <a16:creationId xmlns:a16="http://schemas.microsoft.com/office/drawing/2014/main" id="{90EEE889-94B7-68A2-17C6-2D09EFC161BB}"/>
              </a:ext>
            </a:extLst>
          </p:cNvPr>
          <p:cNvSpPr txBox="1"/>
          <p:nvPr/>
        </p:nvSpPr>
        <p:spPr>
          <a:xfrm>
            <a:off x="294968" y="3349348"/>
            <a:ext cx="6096000" cy="1200329"/>
          </a:xfrm>
          <a:prstGeom prst="rect">
            <a:avLst/>
          </a:prstGeom>
          <a:noFill/>
        </p:spPr>
        <p:txBody>
          <a:bodyPr wrap="square">
            <a:spAutoFit/>
          </a:bodyPr>
          <a:lstStyle/>
          <a:p>
            <a:pPr>
              <a:buNone/>
            </a:pPr>
            <a:r>
              <a:rPr lang="en-US" sz="2400" b="1" dirty="0"/>
              <a:t>Model Performance:</a:t>
            </a:r>
          </a:p>
          <a:p>
            <a:pPr>
              <a:buFont typeface="Arial" panose="020B0604020202020204" pitchFamily="34" charset="0"/>
              <a:buChar char="•"/>
            </a:pPr>
            <a:r>
              <a:rPr lang="en-US" sz="2400" dirty="0"/>
              <a:t> Accuracy: 85%</a:t>
            </a:r>
          </a:p>
          <a:p>
            <a:pPr>
              <a:buFont typeface="Arial" panose="020B0604020202020204" pitchFamily="34" charset="0"/>
              <a:buChar char="•"/>
            </a:pPr>
            <a:r>
              <a:rPr lang="en-US" sz="2400" dirty="0"/>
              <a:t> Cross-Validation Accuracy: 70%</a:t>
            </a:r>
          </a:p>
        </p:txBody>
      </p:sp>
      <p:sp>
        <p:nvSpPr>
          <p:cNvPr id="11" name="TextBox 10">
            <a:extLst>
              <a:ext uri="{FF2B5EF4-FFF2-40B4-BE49-F238E27FC236}">
                <a16:creationId xmlns:a16="http://schemas.microsoft.com/office/drawing/2014/main" id="{8FA019C6-F651-E2FC-2373-C7DDBF01CB03}"/>
              </a:ext>
            </a:extLst>
          </p:cNvPr>
          <p:cNvSpPr txBox="1"/>
          <p:nvPr/>
        </p:nvSpPr>
        <p:spPr>
          <a:xfrm>
            <a:off x="6096000" y="3164682"/>
            <a:ext cx="6096000" cy="1569660"/>
          </a:xfrm>
          <a:prstGeom prst="rect">
            <a:avLst/>
          </a:prstGeom>
          <a:noFill/>
        </p:spPr>
        <p:txBody>
          <a:bodyPr wrap="square">
            <a:spAutoFit/>
          </a:bodyPr>
          <a:lstStyle/>
          <a:p>
            <a:pPr>
              <a:buNone/>
            </a:pPr>
            <a:r>
              <a:rPr lang="en-US" sz="2400" b="1" dirty="0"/>
              <a:t>Key Drivers of Booking:</a:t>
            </a:r>
          </a:p>
          <a:p>
            <a:pPr>
              <a:buFont typeface="Arial" panose="020B0604020202020204" pitchFamily="34" charset="0"/>
              <a:buChar char="•"/>
            </a:pPr>
            <a:r>
              <a:rPr lang="en-US" sz="2400" dirty="0"/>
              <a:t> Purchase lead</a:t>
            </a:r>
          </a:p>
          <a:p>
            <a:pPr>
              <a:buFont typeface="Arial" panose="020B0604020202020204" pitchFamily="34" charset="0"/>
              <a:buChar char="•"/>
            </a:pPr>
            <a:r>
              <a:rPr lang="en-US" sz="2400" dirty="0"/>
              <a:t> Flight Hour</a:t>
            </a:r>
          </a:p>
          <a:p>
            <a:pPr>
              <a:buFont typeface="Arial" panose="020B0604020202020204" pitchFamily="34" charset="0"/>
              <a:buChar char="•"/>
            </a:pPr>
            <a:r>
              <a:rPr lang="en-US" sz="2400" dirty="0"/>
              <a:t> Length of stay</a:t>
            </a:r>
          </a:p>
        </p:txBody>
      </p:sp>
      <p:sp>
        <p:nvSpPr>
          <p:cNvPr id="13" name="TextBox 12">
            <a:extLst>
              <a:ext uri="{FF2B5EF4-FFF2-40B4-BE49-F238E27FC236}">
                <a16:creationId xmlns:a16="http://schemas.microsoft.com/office/drawing/2014/main" id="{00AE59E2-B44F-A071-5A4D-D85B11A7993E}"/>
              </a:ext>
            </a:extLst>
          </p:cNvPr>
          <p:cNvSpPr txBox="1"/>
          <p:nvPr/>
        </p:nvSpPr>
        <p:spPr>
          <a:xfrm>
            <a:off x="196646" y="4734342"/>
            <a:ext cx="11484077" cy="1938992"/>
          </a:xfrm>
          <a:prstGeom prst="rect">
            <a:avLst/>
          </a:prstGeom>
          <a:noFill/>
        </p:spPr>
        <p:txBody>
          <a:bodyPr wrap="square">
            <a:spAutoFit/>
          </a:bodyPr>
          <a:lstStyle/>
          <a:p>
            <a:pPr algn="just"/>
            <a:r>
              <a:rPr lang="en-US" sz="2400" b="1" dirty="0"/>
              <a:t>Business Insight: </a:t>
            </a:r>
            <a:r>
              <a:rPr lang="en-US" sz="2400" dirty="0"/>
              <a:t>Booking behavior is mainly influenced by purchase timing, flight hour, and length of stay. Customers who book earlier, choose certain flight times, and plan longer trips are more likely to complete their booking.</a:t>
            </a:r>
          </a:p>
          <a:p>
            <a:pPr algn="just"/>
            <a:r>
              <a:rPr lang="en-US" sz="2400" dirty="0"/>
              <a:t>To increase conversions, the company should focus on early booking offers, optimize high-performing flight hours, and create special packages for longer stays.</a:t>
            </a:r>
          </a:p>
        </p:txBody>
      </p:sp>
    </p:spTree>
    <p:extLst>
      <p:ext uri="{BB962C8B-B14F-4D97-AF65-F5344CB8AC3E}">
        <p14:creationId xmlns:p14="http://schemas.microsoft.com/office/powerpoint/2010/main" val="1653580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TotalTime>
  <Words>122</Words>
  <Application>Microsoft Office PowerPoint</Application>
  <PresentationFormat>Widescreen</PresentationFormat>
  <Paragraphs>13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sagar</dc:creator>
  <cp:lastModifiedBy>nikhil sagar</cp:lastModifiedBy>
  <cp:revision>1</cp:revision>
  <dcterms:created xsi:type="dcterms:W3CDTF">2026-02-14T16:11:27Z</dcterms:created>
  <dcterms:modified xsi:type="dcterms:W3CDTF">2026-02-14T16:14:08Z</dcterms:modified>
</cp:coreProperties>
</file>